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84" r:id="rId2"/>
    <p:sldId id="285" r:id="rId3"/>
    <p:sldId id="286" r:id="rId4"/>
    <p:sldId id="287" r:id="rId5"/>
  </p:sldIdLst>
  <p:sldSz cx="121920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5658"/>
    <a:srgbClr val="151426"/>
    <a:srgbClr val="5ECD48"/>
    <a:srgbClr val="0B1220"/>
    <a:srgbClr val="101A30"/>
    <a:srgbClr val="0E1930"/>
    <a:srgbClr val="C73D3E"/>
    <a:srgbClr val="DA1710"/>
    <a:srgbClr val="0F1830"/>
    <a:srgbClr val="1523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81"/>
    <p:restoredTop sz="94629"/>
  </p:normalViewPr>
  <p:slideViewPr>
    <p:cSldViewPr snapToGrid="0">
      <p:cViewPr varScale="1">
        <p:scale>
          <a:sx n="104" d="100"/>
          <a:sy n="104" d="100"/>
        </p:scale>
        <p:origin x="18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AED3C5-08A1-6149-AE25-0576F8BDC84C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1143000"/>
            <a:ext cx="4572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B7EC73-F78A-B04E-BA69-14A3E7BA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69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6FCBC-0849-9C15-8A05-239B7D8B4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17E4F-82D3-9342-E27E-879CA3A62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1143000"/>
            <a:ext cx="45720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A3452-9904-00E4-F7A7-D725CA8E3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56009-2C34-4A6B-DB65-883D82A1E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7EC73-F78A-B04E-BA69-14A3E7BA90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10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68985-E148-003F-C889-01E6B41D5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63B6FB-3E03-BCCD-43E3-70C237F16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1143000"/>
            <a:ext cx="45720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63080-5EA7-2E5C-5894-92B3B92A3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804AF-3D0D-E8EC-ED64-A6B20A543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7EC73-F78A-B04E-BA69-14A3E7BA90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36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E6125-4957-0174-A832-D02B63FE1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94F7C1-051F-9205-958C-E1A16B503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1143000"/>
            <a:ext cx="45720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01FDB6-47E8-DAF9-3BFB-6CC03E74E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C0197-1FD1-51B4-E456-6DBF9FDAE6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7EC73-F78A-B04E-BA69-14A3E7BA90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8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83B5A-53F2-9415-5E08-FF6BBFF59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09D43-081D-8A06-3583-48D606D51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1143000"/>
            <a:ext cx="45720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A682C-F4DF-599B-ED28-3022E81A5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2594D-1EE4-B0F2-0FEF-FD0E6A57B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7EC73-F78A-B04E-BA69-14A3E7BA908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88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46836"/>
            <a:ext cx="103632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22446"/>
            <a:ext cx="91440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420BC-8D81-0C4A-AE7D-314B986EE4F5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00CE-442C-7344-91CD-AA3BC1708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88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420BC-8D81-0C4A-AE7D-314B986EE4F5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00CE-442C-7344-91CD-AA3BC1708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2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051688"/>
            <a:ext cx="1051560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507358"/>
            <a:ext cx="1051560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420BC-8D81-0C4A-AE7D-314B986EE4F5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00CE-442C-7344-91CD-AA3BC1708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52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190750"/>
            <a:ext cx="518160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0750"/>
            <a:ext cx="518160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420BC-8D81-0C4A-AE7D-314B986EE4F5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00CE-442C-7344-91CD-AA3BC1708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0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8152"/>
            <a:ext cx="1051560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017396"/>
            <a:ext cx="5157787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006090"/>
            <a:ext cx="5157787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017396"/>
            <a:ext cx="518318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006090"/>
            <a:ext cx="5183188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420BC-8D81-0C4A-AE7D-314B986EE4F5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00CE-442C-7344-91CD-AA3BC1708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50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420BC-8D81-0C4A-AE7D-314B986EE4F5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00CE-442C-7344-91CD-AA3BC1708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914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420BC-8D81-0C4A-AE7D-314B986EE4F5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00CE-442C-7344-91CD-AA3BC1708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25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48640"/>
            <a:ext cx="3932237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84912"/>
            <a:ext cx="617220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68880"/>
            <a:ext cx="3932237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420BC-8D81-0C4A-AE7D-314B986EE4F5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00CE-442C-7344-91CD-AA3BC1708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35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48640"/>
            <a:ext cx="3932237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184912"/>
            <a:ext cx="617220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68880"/>
            <a:ext cx="3932237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420BC-8D81-0C4A-AE7D-314B986EE4F5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00CE-442C-7344-91CD-AA3BC1708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77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420BC-8D81-0C4A-AE7D-314B986EE4F5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00CE-442C-7344-91CD-AA3BC1708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59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38150"/>
            <a:ext cx="262890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38150"/>
            <a:ext cx="773430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420BC-8D81-0C4A-AE7D-314B986EE4F5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00CE-442C-7344-91CD-AA3BC1708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375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38152"/>
            <a:ext cx="1051560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90750"/>
            <a:ext cx="1051560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627622"/>
            <a:ext cx="27432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6420BC-8D81-0C4A-AE7D-314B986EE4F5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627622"/>
            <a:ext cx="41148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627622"/>
            <a:ext cx="27432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A00CE-442C-7344-91CD-AA3BC1708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6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7C8E02-68B0-C27C-91F5-14C53A7A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96A5AC-67A7-5498-05B3-5B491E9B1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98" y="109489"/>
            <a:ext cx="11326310" cy="57739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B758D8A-73D4-293F-4FBE-5949AA45D2D8}"/>
              </a:ext>
            </a:extLst>
          </p:cNvPr>
          <p:cNvSpPr txBox="1"/>
          <p:nvPr/>
        </p:nvSpPr>
        <p:spPr>
          <a:xfrm>
            <a:off x="1692819" y="5702575"/>
            <a:ext cx="32766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spc="400" dirty="0">
                <a:solidFill>
                  <a:schemeClr val="bg1">
                    <a:lumMod val="65000"/>
                  </a:schemeClr>
                </a:solidFill>
                <a:latin typeface="IBM Plex Mono" panose="020B0509050203000203" pitchFamily="49" charset="77"/>
              </a:rPr>
              <a:t>PROVISION CHAIN AUDIT</a:t>
            </a:r>
          </a:p>
          <a:p>
            <a:endParaRPr lang="en-US" sz="300" spc="400" dirty="0">
              <a:solidFill>
                <a:schemeClr val="bg1">
                  <a:lumMod val="65000"/>
                </a:schemeClr>
              </a:solidFill>
              <a:latin typeface="IBM Plex Mono" panose="020B0509050203000203" pitchFamily="49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7566E0-9BAC-AA03-485C-FBAFF69523A1}"/>
              </a:ext>
            </a:extLst>
          </p:cNvPr>
          <p:cNvSpPr/>
          <p:nvPr/>
        </p:nvSpPr>
        <p:spPr>
          <a:xfrm>
            <a:off x="632298" y="1263194"/>
            <a:ext cx="4153629" cy="6696249"/>
          </a:xfrm>
          <a:prstGeom prst="rect">
            <a:avLst/>
          </a:prstGeom>
          <a:solidFill>
            <a:srgbClr val="1514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AD5172-C0CB-BED7-6FE9-72FD65465911}"/>
              </a:ext>
            </a:extLst>
          </p:cNvPr>
          <p:cNvSpPr txBox="1"/>
          <p:nvPr/>
        </p:nvSpPr>
        <p:spPr>
          <a:xfrm>
            <a:off x="1816067" y="1263893"/>
            <a:ext cx="8559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spc="-210" dirty="0">
                <a:solidFill>
                  <a:schemeClr val="bg1"/>
                </a:solidFill>
                <a:latin typeface="DM Sans 14pt SemiBold" pitchFamily="2" charset="77"/>
              </a:rPr>
              <a:t>Move faster without giving up control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8CDE0E-F04F-1E56-E458-C7A39924FB6D}"/>
              </a:ext>
            </a:extLst>
          </p:cNvPr>
          <p:cNvSpPr txBox="1"/>
          <p:nvPr/>
        </p:nvSpPr>
        <p:spPr>
          <a:xfrm>
            <a:off x="1816067" y="1982584"/>
            <a:ext cx="8777385" cy="517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00" dirty="0">
                <a:solidFill>
                  <a:schemeClr val="bg1"/>
                </a:solidFill>
                <a:latin typeface="DM Sans 14pt" pitchFamily="2" charset="77"/>
              </a:rPr>
              <a:t> Nodus applies the right kind of intelligence to the right part of the provision: AI to structure messy inputs, deterministic logic to run reproducible calculations, a graph to preserve relationships, and ASC 740 expertise to guide the judgment.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2386D1-98F1-FE6E-2596-BE630874691F}"/>
              </a:ext>
            </a:extLst>
          </p:cNvPr>
          <p:cNvSpPr txBox="1"/>
          <p:nvPr/>
        </p:nvSpPr>
        <p:spPr>
          <a:xfrm>
            <a:off x="4506936" y="617097"/>
            <a:ext cx="3178127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1000" spc="400" dirty="0">
                <a:solidFill>
                  <a:srgbClr val="5ECD48"/>
                </a:solidFill>
                <a:latin typeface="IBM Plex Mono" panose="020B0509050203000203" pitchFamily="49" charset="77"/>
              </a:rPr>
              <a:t>BUILT FOR THE WORK</a:t>
            </a:r>
          </a:p>
          <a:p>
            <a:pPr algn="ctr"/>
            <a:endParaRPr lang="en-US" sz="400" spc="400" dirty="0">
              <a:solidFill>
                <a:srgbClr val="5ECD48"/>
              </a:solidFill>
              <a:latin typeface="IBM Plex Mono" panose="020B0509050203000203" pitchFamily="49" charset="7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DCBED0-0101-D5EE-C51E-38735328C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816" y="2580596"/>
            <a:ext cx="6848856" cy="48890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C1D1D8-31CD-A18E-4CFE-B76B52E8800C}"/>
              </a:ext>
            </a:extLst>
          </p:cNvPr>
          <p:cNvSpPr txBox="1"/>
          <p:nvPr/>
        </p:nvSpPr>
        <p:spPr>
          <a:xfrm>
            <a:off x="1188187" y="3076730"/>
            <a:ext cx="4153629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>
                <a:solidFill>
                  <a:srgbClr val="5ECD48"/>
                </a:solidFill>
                <a:effectLst/>
                <a:latin typeface="DM Sans 14pt" pitchFamily="2" charset="77"/>
              </a:rPr>
              <a:t>AI structures the inputs.</a:t>
            </a:r>
            <a:br>
              <a:rPr lang="en-US" sz="1800" b="1" i="0" u="none" strike="noStrike" dirty="0">
                <a:solidFill>
                  <a:schemeClr val="bg1"/>
                </a:solidFill>
                <a:effectLst/>
                <a:latin typeface="DM Sans 14pt" pitchFamily="2" charset="77"/>
              </a:rPr>
            </a:br>
            <a:r>
              <a:rPr lang="en-US" sz="1200" b="0" i="0" u="none" strike="noStrike" dirty="0">
                <a:solidFill>
                  <a:schemeClr val="bg1"/>
                </a:solidFill>
                <a:effectLst/>
                <a:latin typeface="DM Sans 14pt" pitchFamily="2" charset="77"/>
              </a:rPr>
              <a:t>Messy source materials become usable provision logic.</a:t>
            </a:r>
            <a:endParaRPr lang="en-US" sz="1200" b="0" dirty="0">
              <a:solidFill>
                <a:schemeClr val="bg1"/>
              </a:solidFill>
              <a:effectLst/>
              <a:latin typeface="DM Sans 14pt" pitchFamily="2" charset="77"/>
            </a:endParaRPr>
          </a:p>
          <a:p>
            <a:pPr rtl="0">
              <a:buNone/>
            </a:pPr>
            <a:endParaRPr lang="en-US" b="1" dirty="0">
              <a:solidFill>
                <a:srgbClr val="565658"/>
              </a:solidFill>
              <a:latin typeface="DM Sans 14pt" pitchFamily="2" charset="77"/>
            </a:endParaRPr>
          </a:p>
          <a:p>
            <a:br>
              <a:rPr lang="en-US" sz="12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</a:br>
            <a:r>
              <a:rPr lang="en-US" b="1" dirty="0">
                <a:solidFill>
                  <a:srgbClr val="565658"/>
                </a:solidFill>
                <a:latin typeface="DM Sans 14pt" pitchFamily="2" charset="77"/>
              </a:rPr>
              <a:t>Deterministic logic runs the math.</a:t>
            </a:r>
            <a:br>
              <a:rPr lang="en-US" b="1" dirty="0">
                <a:solidFill>
                  <a:srgbClr val="565658"/>
                </a:solidFill>
                <a:latin typeface="DM Sans 14pt" pitchFamily="2" charset="77"/>
              </a:rPr>
            </a:br>
            <a:r>
              <a:rPr lang="en-US" sz="1200" dirty="0">
                <a:solidFill>
                  <a:srgbClr val="565658"/>
                </a:solidFill>
                <a:latin typeface="DM Sans 14pt" pitchFamily="2" charset="77"/>
              </a:rPr>
              <a:t>Excel executes the calculations, keeping the math transparent, reproducible, and review-ready.</a:t>
            </a:r>
          </a:p>
          <a:p>
            <a:pPr rtl="0">
              <a:buNone/>
            </a:pPr>
            <a:endParaRPr lang="en-US" b="1" dirty="0">
              <a:solidFill>
                <a:srgbClr val="565658"/>
              </a:solidFill>
              <a:latin typeface="DM Sans 14pt" pitchFamily="2" charset="77"/>
            </a:endParaRPr>
          </a:p>
          <a:p>
            <a:pPr>
              <a:buNone/>
            </a:pPr>
            <a:br>
              <a:rPr lang="en-US" sz="1200" b="1" dirty="0">
                <a:solidFill>
                  <a:srgbClr val="565658"/>
                </a:solidFill>
                <a:latin typeface="DM Sans 14pt" pitchFamily="2" charset="77"/>
              </a:rPr>
            </a:br>
            <a: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  <a:t>The graph keeps the reasoning connected.</a:t>
            </a:r>
            <a:b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</a:br>
            <a:r>
              <a:rPr lang="en-US" sz="1200" dirty="0">
                <a:solidFill>
                  <a:srgbClr val="565658"/>
                </a:solidFill>
                <a:latin typeface="DM Sans 14pt" pitchFamily="2" charset="77"/>
              </a:rPr>
              <a:t>Numbers, support, authority, assumptions, and judgment stay linked over time.</a:t>
            </a:r>
          </a:p>
          <a:p>
            <a:endParaRPr lang="en-US" sz="1800" b="1" i="0" u="none" strike="noStrike" dirty="0">
              <a:solidFill>
                <a:srgbClr val="565658"/>
              </a:solidFill>
              <a:effectLst/>
              <a:latin typeface="DM Sans 14pt" pitchFamily="2" charset="77"/>
            </a:endParaRPr>
          </a:p>
          <a:p>
            <a:br>
              <a:rPr lang="en-US" sz="12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</a:br>
            <a: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  <a:t>ASC 740 expertise guides the work.</a:t>
            </a:r>
            <a:b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</a:br>
            <a:r>
              <a:rPr lang="en-US" sz="1200" dirty="0">
                <a:solidFill>
                  <a:srgbClr val="565658"/>
                </a:solidFill>
                <a:latin typeface="DM Sans 14pt" pitchFamily="2" charset="77"/>
              </a:rPr>
              <a:t>Human review stays in the process where professional judgment matters.</a:t>
            </a:r>
          </a:p>
          <a:p>
            <a:pPr>
              <a:buNone/>
            </a:pPr>
            <a:br>
              <a:rPr lang="en-US" dirty="0">
                <a:solidFill>
                  <a:srgbClr val="565658"/>
                </a:solidFill>
                <a:latin typeface="DM Sans 14pt" pitchFamily="2" charset="77"/>
              </a:rPr>
            </a:br>
            <a:endParaRPr lang="en-US" dirty="0">
              <a:solidFill>
                <a:srgbClr val="565658"/>
              </a:solidFill>
              <a:latin typeface="DM Sans 14p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33024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BE3BA7-EB44-88F8-18C0-EB82B5D46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BCDC95-7293-24C9-1DD1-982D8E890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816" y="2580596"/>
            <a:ext cx="6848856" cy="48890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69FF59-724B-EE81-6D36-F3ACB63EF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98" y="109489"/>
            <a:ext cx="11326310" cy="57739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E38DF76-7FD4-FA7B-DD89-F534EED267BE}"/>
              </a:ext>
            </a:extLst>
          </p:cNvPr>
          <p:cNvSpPr txBox="1"/>
          <p:nvPr/>
        </p:nvSpPr>
        <p:spPr>
          <a:xfrm>
            <a:off x="1692819" y="5702575"/>
            <a:ext cx="32766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spc="400" dirty="0">
                <a:solidFill>
                  <a:schemeClr val="bg1">
                    <a:lumMod val="65000"/>
                  </a:schemeClr>
                </a:solidFill>
                <a:latin typeface="IBM Plex Mono" panose="020B0509050203000203" pitchFamily="49" charset="77"/>
              </a:rPr>
              <a:t>PROVISION CHAIN AUDIT</a:t>
            </a:r>
          </a:p>
          <a:p>
            <a:endParaRPr lang="en-US" sz="300" spc="400" dirty="0">
              <a:solidFill>
                <a:schemeClr val="bg1">
                  <a:lumMod val="65000"/>
                </a:schemeClr>
              </a:solidFill>
              <a:latin typeface="IBM Plex Mono" panose="020B0509050203000203" pitchFamily="49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C688F2-ACF4-9669-3549-D06CE121B800}"/>
              </a:ext>
            </a:extLst>
          </p:cNvPr>
          <p:cNvSpPr/>
          <p:nvPr/>
        </p:nvSpPr>
        <p:spPr>
          <a:xfrm>
            <a:off x="632298" y="1263194"/>
            <a:ext cx="4153629" cy="6696249"/>
          </a:xfrm>
          <a:prstGeom prst="rect">
            <a:avLst/>
          </a:prstGeom>
          <a:solidFill>
            <a:srgbClr val="1514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49FB9C-A5E5-7C23-56FE-5DFC05FCB0B0}"/>
              </a:ext>
            </a:extLst>
          </p:cNvPr>
          <p:cNvSpPr txBox="1"/>
          <p:nvPr/>
        </p:nvSpPr>
        <p:spPr>
          <a:xfrm>
            <a:off x="1816067" y="1263893"/>
            <a:ext cx="8559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spc="-210" dirty="0">
                <a:solidFill>
                  <a:schemeClr val="bg1"/>
                </a:solidFill>
                <a:latin typeface="DM Sans 14pt SemiBold" pitchFamily="2" charset="77"/>
              </a:rPr>
              <a:t>Move faster without giving up control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389176-1A10-F094-8969-FC56EA96E19F}"/>
              </a:ext>
            </a:extLst>
          </p:cNvPr>
          <p:cNvSpPr txBox="1"/>
          <p:nvPr/>
        </p:nvSpPr>
        <p:spPr>
          <a:xfrm>
            <a:off x="1816067" y="1982584"/>
            <a:ext cx="8777385" cy="517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00" dirty="0">
                <a:solidFill>
                  <a:schemeClr val="bg1"/>
                </a:solidFill>
                <a:latin typeface="DM Sans 14pt" pitchFamily="2" charset="77"/>
              </a:rPr>
              <a:t> Nodus applies the right kind of intelligence to the right part of the provision: AI to structure messy inputs, deterministic logic to run reproducible calculations, a graph to preserve relationships, and ASC 740 expertise to guide the judgment.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6A34AB-DC0A-CD1B-FCF7-701BE1E777D2}"/>
              </a:ext>
            </a:extLst>
          </p:cNvPr>
          <p:cNvSpPr txBox="1"/>
          <p:nvPr/>
        </p:nvSpPr>
        <p:spPr>
          <a:xfrm>
            <a:off x="4506936" y="617097"/>
            <a:ext cx="3178127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1000" spc="400" dirty="0">
                <a:solidFill>
                  <a:srgbClr val="5ECD48"/>
                </a:solidFill>
                <a:latin typeface="IBM Plex Mono" panose="020B0509050203000203" pitchFamily="49" charset="77"/>
              </a:rPr>
              <a:t>BUILT FOR THE WORK</a:t>
            </a:r>
          </a:p>
          <a:p>
            <a:pPr algn="ctr"/>
            <a:endParaRPr lang="en-US" sz="400" spc="400" dirty="0">
              <a:solidFill>
                <a:srgbClr val="5ECD48"/>
              </a:solidFill>
              <a:latin typeface="IBM Plex Mono" panose="020B0509050203000203" pitchFamily="49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193B84-B0D0-BA66-584F-586570040844}"/>
              </a:ext>
            </a:extLst>
          </p:cNvPr>
          <p:cNvSpPr txBox="1"/>
          <p:nvPr/>
        </p:nvSpPr>
        <p:spPr>
          <a:xfrm>
            <a:off x="1188187" y="3076730"/>
            <a:ext cx="415362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  <a:t>AI structures the inputs.</a:t>
            </a:r>
            <a:b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</a:br>
            <a:r>
              <a:rPr lang="en-US" sz="1200" b="0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  <a:t>Messy source materials become usable provision logic.</a:t>
            </a:r>
            <a:endParaRPr lang="en-US" sz="1200" b="0" dirty="0">
              <a:solidFill>
                <a:srgbClr val="565658"/>
              </a:solidFill>
              <a:effectLst/>
              <a:latin typeface="DM Sans 14pt" pitchFamily="2" charset="77"/>
            </a:endParaRPr>
          </a:p>
          <a:p>
            <a:pPr rtl="0">
              <a:buNone/>
            </a:pPr>
            <a:endParaRPr lang="en-US" b="1" dirty="0">
              <a:solidFill>
                <a:srgbClr val="565658"/>
              </a:solidFill>
              <a:latin typeface="DM Sans 14pt" pitchFamily="2" charset="77"/>
            </a:endParaRPr>
          </a:p>
          <a:p>
            <a:br>
              <a:rPr lang="en-US" sz="1200" b="1" i="0" u="none" strike="noStrike" dirty="0">
                <a:solidFill>
                  <a:schemeClr val="bg1"/>
                </a:solidFill>
                <a:effectLst/>
                <a:latin typeface="DM Sans 14pt" pitchFamily="2" charset="77"/>
              </a:rPr>
            </a:br>
            <a:r>
              <a:rPr lang="en-US" b="1" dirty="0">
                <a:solidFill>
                  <a:srgbClr val="5ECD48"/>
                </a:solidFill>
                <a:latin typeface="DM Sans 14pt" pitchFamily="2" charset="77"/>
              </a:rPr>
              <a:t>Deterministic logic runs the math.</a:t>
            </a:r>
            <a:br>
              <a:rPr lang="en-US" b="1" dirty="0">
                <a:solidFill>
                  <a:srgbClr val="5ECD48"/>
                </a:solidFill>
                <a:latin typeface="DM Sans 14pt" pitchFamily="2" charset="77"/>
              </a:rPr>
            </a:br>
            <a:r>
              <a:rPr lang="en-US" sz="1200" dirty="0">
                <a:solidFill>
                  <a:schemeClr val="bg1"/>
                </a:solidFill>
                <a:latin typeface="DM Sans 14pt" pitchFamily="2" charset="77"/>
              </a:rPr>
              <a:t>Excel executes the calculations, keeping the math transparent, reproducible, and review-ready.</a:t>
            </a:r>
          </a:p>
          <a:p>
            <a:pPr rtl="0">
              <a:buNone/>
            </a:pPr>
            <a:endParaRPr lang="en-US" sz="1200" dirty="0">
              <a:solidFill>
                <a:schemeClr val="bg1"/>
              </a:solidFill>
              <a:latin typeface="DM Sans 14pt" pitchFamily="2" charset="77"/>
            </a:endParaRPr>
          </a:p>
          <a:p>
            <a:pPr>
              <a:buNone/>
            </a:pPr>
            <a:br>
              <a:rPr lang="en-US" sz="1200" b="1" dirty="0">
                <a:solidFill>
                  <a:schemeClr val="bg1"/>
                </a:solidFill>
                <a:latin typeface="DM Sans 14pt" pitchFamily="2" charset="77"/>
              </a:rPr>
            </a:br>
            <a: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  <a:t>The graph keeps the reasoning connected.</a:t>
            </a:r>
            <a:b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</a:br>
            <a:r>
              <a:rPr lang="en-US" sz="1200" dirty="0">
                <a:solidFill>
                  <a:srgbClr val="565658"/>
                </a:solidFill>
                <a:latin typeface="DM Sans 14pt" pitchFamily="2" charset="77"/>
              </a:rPr>
              <a:t>Numbers, support, authority, assumptions, and judgment stay linked over time.</a:t>
            </a:r>
          </a:p>
          <a:p>
            <a:endParaRPr lang="en-US" sz="1800" b="1" i="0" u="none" strike="noStrike" dirty="0">
              <a:solidFill>
                <a:srgbClr val="565658"/>
              </a:solidFill>
              <a:effectLst/>
              <a:latin typeface="DM Sans 14pt" pitchFamily="2" charset="77"/>
            </a:endParaRPr>
          </a:p>
          <a:p>
            <a:br>
              <a:rPr lang="en-US" sz="12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</a:br>
            <a: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  <a:t>ASC 740 expertise guides the work.</a:t>
            </a:r>
            <a:b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</a:br>
            <a:r>
              <a:rPr lang="en-US" sz="1200" dirty="0">
                <a:solidFill>
                  <a:srgbClr val="565658"/>
                </a:solidFill>
                <a:latin typeface="DM Sans 14pt" pitchFamily="2" charset="77"/>
              </a:rPr>
              <a:t>Human review stays in the process where professional judgment matters.</a:t>
            </a:r>
          </a:p>
          <a:p>
            <a:pPr>
              <a:buNone/>
            </a:pPr>
            <a:br>
              <a:rPr lang="en-US" dirty="0">
                <a:solidFill>
                  <a:srgbClr val="565658"/>
                </a:solidFill>
                <a:latin typeface="DM Sans 14pt" pitchFamily="2" charset="77"/>
              </a:rPr>
            </a:br>
            <a:endParaRPr lang="en-US" dirty="0">
              <a:solidFill>
                <a:srgbClr val="565658"/>
              </a:solidFill>
              <a:latin typeface="DM Sans 14p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31540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AE81D-0174-6427-9BA4-AC33A1AEC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AFB716-0845-296C-D308-7E8D2C8F8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98" y="109489"/>
            <a:ext cx="11326310" cy="57739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EAA035D-565D-9C95-008B-039EAC268F9B}"/>
              </a:ext>
            </a:extLst>
          </p:cNvPr>
          <p:cNvSpPr txBox="1"/>
          <p:nvPr/>
        </p:nvSpPr>
        <p:spPr>
          <a:xfrm>
            <a:off x="1692819" y="5702575"/>
            <a:ext cx="32766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spc="400" dirty="0">
                <a:solidFill>
                  <a:schemeClr val="bg1">
                    <a:lumMod val="65000"/>
                  </a:schemeClr>
                </a:solidFill>
                <a:latin typeface="IBM Plex Mono" panose="020B0509050203000203" pitchFamily="49" charset="77"/>
              </a:rPr>
              <a:t>PROVISION CHAIN AUDIT</a:t>
            </a:r>
          </a:p>
          <a:p>
            <a:endParaRPr lang="en-US" sz="300" spc="400" dirty="0">
              <a:solidFill>
                <a:schemeClr val="bg1">
                  <a:lumMod val="65000"/>
                </a:schemeClr>
              </a:solidFill>
              <a:latin typeface="IBM Plex Mono" panose="020B0509050203000203" pitchFamily="49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64CB6F-2538-5897-30AF-FB77941B3559}"/>
              </a:ext>
            </a:extLst>
          </p:cNvPr>
          <p:cNvSpPr/>
          <p:nvPr/>
        </p:nvSpPr>
        <p:spPr>
          <a:xfrm>
            <a:off x="632298" y="1263194"/>
            <a:ext cx="4153629" cy="6696249"/>
          </a:xfrm>
          <a:prstGeom prst="rect">
            <a:avLst/>
          </a:prstGeom>
          <a:solidFill>
            <a:srgbClr val="1514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9C633C-D990-3409-CF05-16F8008C31DA}"/>
              </a:ext>
            </a:extLst>
          </p:cNvPr>
          <p:cNvSpPr txBox="1"/>
          <p:nvPr/>
        </p:nvSpPr>
        <p:spPr>
          <a:xfrm>
            <a:off x="1816067" y="1263893"/>
            <a:ext cx="8559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spc="-210" dirty="0">
                <a:solidFill>
                  <a:schemeClr val="bg1"/>
                </a:solidFill>
                <a:latin typeface="DM Sans 14pt SemiBold" pitchFamily="2" charset="77"/>
              </a:rPr>
              <a:t>Move faster without giving up control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80A69B-FB56-70FE-BD80-1CD2792EEC3D}"/>
              </a:ext>
            </a:extLst>
          </p:cNvPr>
          <p:cNvSpPr txBox="1"/>
          <p:nvPr/>
        </p:nvSpPr>
        <p:spPr>
          <a:xfrm>
            <a:off x="1816067" y="1982584"/>
            <a:ext cx="8777385" cy="517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00" dirty="0">
                <a:solidFill>
                  <a:schemeClr val="bg1"/>
                </a:solidFill>
                <a:latin typeface="DM Sans 14pt" pitchFamily="2" charset="77"/>
              </a:rPr>
              <a:t> Nodus applies the right kind of intelligence to the right part of the provision: AI to structure messy inputs, deterministic logic to run reproducible calculations, a graph to preserve relationships, and ASC 740 expertise to guide the judgment.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A12B3A-5385-C3B2-F9BF-79D82D2E4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816" y="2580596"/>
            <a:ext cx="6848856" cy="48890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D5FA84-C24D-4330-0C73-BDC3FD54F319}"/>
              </a:ext>
            </a:extLst>
          </p:cNvPr>
          <p:cNvSpPr txBox="1"/>
          <p:nvPr/>
        </p:nvSpPr>
        <p:spPr>
          <a:xfrm>
            <a:off x="4506936" y="617097"/>
            <a:ext cx="3178127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1000" spc="400" dirty="0">
                <a:solidFill>
                  <a:srgbClr val="5ECD48"/>
                </a:solidFill>
                <a:latin typeface="IBM Plex Mono" panose="020B0509050203000203" pitchFamily="49" charset="77"/>
              </a:rPr>
              <a:t>BUILT FOR THE WORK</a:t>
            </a:r>
          </a:p>
          <a:p>
            <a:pPr algn="ctr"/>
            <a:endParaRPr lang="en-US" sz="400" spc="400" dirty="0">
              <a:solidFill>
                <a:srgbClr val="5ECD48"/>
              </a:solidFill>
              <a:latin typeface="IBM Plex Mono" panose="020B0509050203000203" pitchFamily="49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CDCE9E-AB8A-FDEB-CBC0-9BA41B6BEF58}"/>
              </a:ext>
            </a:extLst>
          </p:cNvPr>
          <p:cNvSpPr txBox="1"/>
          <p:nvPr/>
        </p:nvSpPr>
        <p:spPr>
          <a:xfrm>
            <a:off x="1188187" y="3076730"/>
            <a:ext cx="4153629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  <a:t>AI structures the inputs.</a:t>
            </a:r>
            <a:b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</a:br>
            <a:r>
              <a:rPr lang="en-US" sz="1200" b="0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  <a:t>Messy source materials become usable provision logic.</a:t>
            </a:r>
            <a:endParaRPr lang="en-US" sz="1200" b="0" dirty="0">
              <a:solidFill>
                <a:srgbClr val="565658"/>
              </a:solidFill>
              <a:effectLst/>
              <a:latin typeface="DM Sans 14pt" pitchFamily="2" charset="77"/>
            </a:endParaRPr>
          </a:p>
          <a:p>
            <a:pPr rtl="0">
              <a:buNone/>
            </a:pPr>
            <a:endParaRPr lang="en-US" b="1" dirty="0">
              <a:solidFill>
                <a:srgbClr val="565658"/>
              </a:solidFill>
              <a:latin typeface="DM Sans 14pt" pitchFamily="2" charset="77"/>
            </a:endParaRPr>
          </a:p>
          <a:p>
            <a:br>
              <a:rPr lang="en-US" sz="12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</a:br>
            <a:r>
              <a:rPr lang="en-US" b="1" dirty="0">
                <a:solidFill>
                  <a:srgbClr val="565658"/>
                </a:solidFill>
                <a:latin typeface="DM Sans 14pt" pitchFamily="2" charset="77"/>
              </a:rPr>
              <a:t>Deterministic logic runs the math.</a:t>
            </a:r>
            <a:br>
              <a:rPr lang="en-US" b="1" dirty="0">
                <a:solidFill>
                  <a:srgbClr val="565658"/>
                </a:solidFill>
                <a:latin typeface="DM Sans 14pt" pitchFamily="2" charset="77"/>
              </a:rPr>
            </a:br>
            <a:r>
              <a:rPr lang="en-US" sz="1200" dirty="0">
                <a:solidFill>
                  <a:srgbClr val="565658"/>
                </a:solidFill>
                <a:latin typeface="DM Sans 14pt" pitchFamily="2" charset="77"/>
              </a:rPr>
              <a:t>Excel executes the calculations, keeping the math transparent, reproducible, and review-ready.</a:t>
            </a:r>
          </a:p>
          <a:p>
            <a:pPr rtl="0">
              <a:buNone/>
            </a:pPr>
            <a:endParaRPr lang="en-US" b="1" dirty="0">
              <a:solidFill>
                <a:srgbClr val="565658"/>
              </a:solidFill>
              <a:latin typeface="DM Sans 14pt" pitchFamily="2" charset="77"/>
            </a:endParaRPr>
          </a:p>
          <a:p>
            <a:pPr>
              <a:buNone/>
            </a:pPr>
            <a:br>
              <a:rPr lang="en-US" sz="1200" b="1" dirty="0">
                <a:solidFill>
                  <a:schemeClr val="bg1"/>
                </a:solidFill>
                <a:latin typeface="DM Sans 14pt" pitchFamily="2" charset="77"/>
              </a:rPr>
            </a:br>
            <a:r>
              <a:rPr lang="en-US" b="1" dirty="0">
                <a:solidFill>
                  <a:srgbClr val="5ECD48"/>
                </a:solidFill>
                <a:latin typeface="DM Sans 14pt" pitchFamily="2" charset="77"/>
              </a:rPr>
              <a:t>The graph keeps the reasoning connected.</a:t>
            </a:r>
            <a:b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</a:br>
            <a:r>
              <a:rPr lang="en-US" sz="1200" dirty="0">
                <a:solidFill>
                  <a:schemeClr val="bg1"/>
                </a:solidFill>
                <a:latin typeface="DM Sans 14pt" pitchFamily="2" charset="77"/>
              </a:rPr>
              <a:t>Numbers, support, authority, assumptions, and judgment stay linked over time.</a:t>
            </a:r>
          </a:p>
          <a:p>
            <a:endParaRPr lang="en-US" sz="1800" b="1" i="0" u="none" strike="noStrike" dirty="0">
              <a:solidFill>
                <a:srgbClr val="565658"/>
              </a:solidFill>
              <a:effectLst/>
              <a:latin typeface="DM Sans 14pt" pitchFamily="2" charset="77"/>
            </a:endParaRPr>
          </a:p>
          <a:p>
            <a:br>
              <a:rPr lang="en-US" sz="12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</a:br>
            <a: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  <a:t>ASC 740 expertise guides the work.</a:t>
            </a:r>
            <a:b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</a:br>
            <a:r>
              <a:rPr lang="en-US" sz="1200" dirty="0">
                <a:solidFill>
                  <a:srgbClr val="565658"/>
                </a:solidFill>
                <a:latin typeface="DM Sans 14pt" pitchFamily="2" charset="77"/>
              </a:rPr>
              <a:t>Human review stays in the process where professional judgment matters.</a:t>
            </a:r>
          </a:p>
          <a:p>
            <a:pPr>
              <a:buNone/>
            </a:pPr>
            <a:br>
              <a:rPr lang="en-US" dirty="0">
                <a:solidFill>
                  <a:srgbClr val="565658"/>
                </a:solidFill>
                <a:latin typeface="DM Sans 14pt" pitchFamily="2" charset="77"/>
              </a:rPr>
            </a:br>
            <a:endParaRPr lang="en-US" dirty="0">
              <a:solidFill>
                <a:srgbClr val="565658"/>
              </a:solidFill>
              <a:latin typeface="DM Sans 14p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80600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4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77C62-5C50-9F6E-0CF7-64EE745BB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0C5A92-1D85-FA84-D32A-09FF9ED3A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98" y="109489"/>
            <a:ext cx="11326310" cy="57739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8D2DA85-4EA3-79A3-02F7-1C191F3A3A92}"/>
              </a:ext>
            </a:extLst>
          </p:cNvPr>
          <p:cNvSpPr txBox="1"/>
          <p:nvPr/>
        </p:nvSpPr>
        <p:spPr>
          <a:xfrm>
            <a:off x="1692819" y="5702575"/>
            <a:ext cx="32766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spc="400" dirty="0">
                <a:solidFill>
                  <a:schemeClr val="bg1">
                    <a:lumMod val="65000"/>
                  </a:schemeClr>
                </a:solidFill>
                <a:latin typeface="IBM Plex Mono" panose="020B0509050203000203" pitchFamily="49" charset="77"/>
              </a:rPr>
              <a:t>PROVISION CHAIN AUDIT</a:t>
            </a:r>
          </a:p>
          <a:p>
            <a:endParaRPr lang="en-US" sz="300" spc="400" dirty="0">
              <a:solidFill>
                <a:schemeClr val="bg1">
                  <a:lumMod val="65000"/>
                </a:schemeClr>
              </a:solidFill>
              <a:latin typeface="IBM Plex Mono" panose="020B0509050203000203" pitchFamily="49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7AEA10-D2AB-F68C-BAEB-B264CED8D2F8}"/>
              </a:ext>
            </a:extLst>
          </p:cNvPr>
          <p:cNvSpPr/>
          <p:nvPr/>
        </p:nvSpPr>
        <p:spPr>
          <a:xfrm>
            <a:off x="632298" y="1263194"/>
            <a:ext cx="4153629" cy="6696249"/>
          </a:xfrm>
          <a:prstGeom prst="rect">
            <a:avLst/>
          </a:prstGeom>
          <a:solidFill>
            <a:srgbClr val="1514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04A071-74AF-9CC5-49DB-0D9642DFBE41}"/>
              </a:ext>
            </a:extLst>
          </p:cNvPr>
          <p:cNvSpPr txBox="1"/>
          <p:nvPr/>
        </p:nvSpPr>
        <p:spPr>
          <a:xfrm>
            <a:off x="1816067" y="1263893"/>
            <a:ext cx="8559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spc="-210" dirty="0">
                <a:solidFill>
                  <a:schemeClr val="bg1"/>
                </a:solidFill>
                <a:latin typeface="DM Sans 14pt SemiBold" pitchFamily="2" charset="77"/>
              </a:rPr>
              <a:t>Move faster without giving up control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EE64EF-C10C-9AC4-0781-5B5D709D4294}"/>
              </a:ext>
            </a:extLst>
          </p:cNvPr>
          <p:cNvSpPr txBox="1"/>
          <p:nvPr/>
        </p:nvSpPr>
        <p:spPr>
          <a:xfrm>
            <a:off x="1816067" y="1982584"/>
            <a:ext cx="8777385" cy="517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00" dirty="0">
                <a:solidFill>
                  <a:schemeClr val="bg1"/>
                </a:solidFill>
                <a:latin typeface="DM Sans 14pt" pitchFamily="2" charset="77"/>
              </a:rPr>
              <a:t> Nodus applies the right kind of intelligence to the right part of the provision: AI to structure messy inputs, deterministic logic to run reproducible calculations, a graph to preserve relationships, and ASC 740 expertise to guide the judgment.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171CD-0648-60FB-F010-824F892751D9}"/>
              </a:ext>
            </a:extLst>
          </p:cNvPr>
          <p:cNvSpPr txBox="1"/>
          <p:nvPr/>
        </p:nvSpPr>
        <p:spPr>
          <a:xfrm>
            <a:off x="4506936" y="617097"/>
            <a:ext cx="3178127" cy="66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1000" spc="400" dirty="0">
                <a:solidFill>
                  <a:srgbClr val="5ECD48"/>
                </a:solidFill>
                <a:latin typeface="IBM Plex Mono" panose="020B0509050203000203" pitchFamily="49" charset="77"/>
              </a:rPr>
              <a:t>BUILT FOR THE WORK</a:t>
            </a:r>
          </a:p>
          <a:p>
            <a:pPr algn="ctr"/>
            <a:endParaRPr lang="en-US" sz="400" spc="400" dirty="0">
              <a:solidFill>
                <a:srgbClr val="5ECD48"/>
              </a:solidFill>
              <a:latin typeface="IBM Plex Mono" panose="020B0509050203000203" pitchFamily="49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15747E-C944-D7FB-EA05-777B70997CFF}"/>
              </a:ext>
            </a:extLst>
          </p:cNvPr>
          <p:cNvSpPr txBox="1"/>
          <p:nvPr/>
        </p:nvSpPr>
        <p:spPr>
          <a:xfrm>
            <a:off x="1188187" y="3076730"/>
            <a:ext cx="4153629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  <a:t>AI structures the inputs.</a:t>
            </a:r>
            <a:b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</a:br>
            <a:r>
              <a:rPr lang="en-US" sz="1200" b="0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  <a:t>Messy source materials become usable provision logic.</a:t>
            </a:r>
            <a:endParaRPr lang="en-US" sz="1200" b="0" dirty="0">
              <a:solidFill>
                <a:srgbClr val="565658"/>
              </a:solidFill>
              <a:effectLst/>
              <a:latin typeface="DM Sans 14pt" pitchFamily="2" charset="77"/>
            </a:endParaRPr>
          </a:p>
          <a:p>
            <a:pPr rtl="0">
              <a:buNone/>
            </a:pPr>
            <a:endParaRPr lang="en-US" b="1" dirty="0">
              <a:solidFill>
                <a:srgbClr val="565658"/>
              </a:solidFill>
              <a:latin typeface="DM Sans 14pt" pitchFamily="2" charset="77"/>
            </a:endParaRPr>
          </a:p>
          <a:p>
            <a:br>
              <a:rPr lang="en-US" sz="12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</a:br>
            <a:r>
              <a:rPr lang="en-US" b="1" dirty="0">
                <a:solidFill>
                  <a:srgbClr val="565658"/>
                </a:solidFill>
                <a:latin typeface="DM Sans 14pt" pitchFamily="2" charset="77"/>
              </a:rPr>
              <a:t>Deterministic logic runs the math.</a:t>
            </a:r>
            <a:br>
              <a:rPr lang="en-US" b="1" dirty="0">
                <a:solidFill>
                  <a:srgbClr val="565658"/>
                </a:solidFill>
                <a:latin typeface="DM Sans 14pt" pitchFamily="2" charset="77"/>
              </a:rPr>
            </a:br>
            <a:r>
              <a:rPr lang="en-US" sz="1200" dirty="0">
                <a:solidFill>
                  <a:srgbClr val="565658"/>
                </a:solidFill>
                <a:latin typeface="DM Sans 14pt" pitchFamily="2" charset="77"/>
              </a:rPr>
              <a:t>Excel executes the calculations, keeping the math transparent, reproducible, and review-ready.</a:t>
            </a:r>
          </a:p>
          <a:p>
            <a:pPr rtl="0">
              <a:buNone/>
            </a:pPr>
            <a:endParaRPr lang="en-US" b="1" dirty="0">
              <a:solidFill>
                <a:srgbClr val="565658"/>
              </a:solidFill>
              <a:latin typeface="DM Sans 14pt" pitchFamily="2" charset="77"/>
            </a:endParaRPr>
          </a:p>
          <a:p>
            <a:pPr>
              <a:buNone/>
            </a:pPr>
            <a:br>
              <a:rPr lang="en-US" sz="1200" b="1" dirty="0">
                <a:solidFill>
                  <a:srgbClr val="565658"/>
                </a:solidFill>
                <a:latin typeface="DM Sans 14pt" pitchFamily="2" charset="77"/>
              </a:rPr>
            </a:br>
            <a: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  <a:t>The graph keeps the reasoning connected.</a:t>
            </a:r>
            <a:br>
              <a:rPr lang="en-US" sz="18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</a:br>
            <a:r>
              <a:rPr lang="en-US" sz="1200" dirty="0">
                <a:solidFill>
                  <a:srgbClr val="565658"/>
                </a:solidFill>
                <a:latin typeface="DM Sans 14pt" pitchFamily="2" charset="77"/>
              </a:rPr>
              <a:t>Numbers, support, authority, assumptions, and judgment stay linked over time.</a:t>
            </a:r>
          </a:p>
          <a:p>
            <a:endParaRPr lang="en-US" sz="1800" b="1" i="0" u="none" strike="noStrike" dirty="0">
              <a:solidFill>
                <a:srgbClr val="565658"/>
              </a:solidFill>
              <a:effectLst/>
              <a:latin typeface="DM Sans 14pt" pitchFamily="2" charset="77"/>
            </a:endParaRPr>
          </a:p>
          <a:p>
            <a:br>
              <a:rPr lang="en-US" sz="1200" b="1" i="0" u="none" strike="noStrike" dirty="0">
                <a:solidFill>
                  <a:srgbClr val="565658"/>
                </a:solidFill>
                <a:effectLst/>
                <a:latin typeface="DM Sans 14pt" pitchFamily="2" charset="77"/>
              </a:rPr>
            </a:br>
            <a:r>
              <a:rPr lang="en-US" b="1" dirty="0">
                <a:solidFill>
                  <a:srgbClr val="5ECD48"/>
                </a:solidFill>
                <a:latin typeface="DM Sans 14pt" pitchFamily="2" charset="77"/>
              </a:rPr>
              <a:t>ASC 740 expertise guides the work.</a:t>
            </a:r>
            <a:br>
              <a:rPr lang="en-US" b="1" dirty="0">
                <a:solidFill>
                  <a:srgbClr val="5ECD48"/>
                </a:solidFill>
                <a:latin typeface="DM Sans 14pt" pitchFamily="2" charset="77"/>
              </a:rPr>
            </a:br>
            <a:r>
              <a:rPr lang="en-US" sz="1200" dirty="0">
                <a:solidFill>
                  <a:schemeClr val="bg1"/>
                </a:solidFill>
                <a:latin typeface="DM Sans 14pt" pitchFamily="2" charset="77"/>
              </a:rPr>
              <a:t>Human review stays in the process where professional judgment matters.</a:t>
            </a:r>
          </a:p>
          <a:p>
            <a:pPr>
              <a:buNone/>
            </a:pPr>
            <a:br>
              <a:rPr lang="en-US" dirty="0">
                <a:solidFill>
                  <a:srgbClr val="565658"/>
                </a:solidFill>
                <a:latin typeface="DM Sans 14pt" pitchFamily="2" charset="77"/>
              </a:rPr>
            </a:br>
            <a:endParaRPr lang="en-US" dirty="0">
              <a:solidFill>
                <a:srgbClr val="565658"/>
              </a:solidFill>
              <a:latin typeface="DM Sans 14pt" pitchFamily="2" charset="7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F36D61-4D53-EF45-3A91-7554679E1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816" y="2579648"/>
            <a:ext cx="6850184" cy="488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7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10070</TotalTime>
  <Words>560</Words>
  <Application>Microsoft Macintosh PowerPoint</Application>
  <PresentationFormat>Custom</PresentationFormat>
  <Paragraphs>52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DM Sans 14pt</vt:lpstr>
      <vt:lpstr>DM Sans 14pt SemiBold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Melissa Marchwick</dc:creator>
  <cp:lastModifiedBy>Melissa Marchwick</cp:lastModifiedBy>
  <cp:revision>6</cp:revision>
  <dcterms:created xsi:type="dcterms:W3CDTF">2026-05-08T01:38:17Z</dcterms:created>
  <dcterms:modified xsi:type="dcterms:W3CDTF">2026-05-20T00:34:57Z</dcterms:modified>
</cp:coreProperties>
</file>